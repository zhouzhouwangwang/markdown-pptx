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369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47750" y="2190750"/>
            <a:ext cx="512978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0369A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PRESENTATION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47750" y="2657475"/>
            <a:ext cx="5129784" cy="70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20"/>
              </a:lnSpc>
              <a:spcAft>
                <a:spcPts val="2100"/>
              </a:spcAft>
              <a:buNone/>
            </a:pPr>
            <a:r>
              <a:rPr lang="en-US" sz="48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职业规划展示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3625155"/>
            <a:ext cx="51297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从初心出发，聚焦目标岗位，规划下一步行动路径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57250" y="609600"/>
            <a:ext cx="38862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369A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857250" y="914400"/>
            <a:ext cx="1476908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初心起源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857250" y="1676400"/>
            <a:ext cx="914400" cy="47625"/>
          </a:xfrm>
          <a:prstGeom prst="rect">
            <a:avLst/>
          </a:prstGeom>
          <a:solidFill>
            <a:srgbClr val="0369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57250" y="2247900"/>
            <a:ext cx="7524899" cy="1452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81000" indent="-381000">
              <a:lnSpc>
                <a:spcPts val="2813"/>
              </a:lnSpc>
              <a:spcAft>
                <a:spcPts val="1500"/>
              </a:spcAft>
              <a:buSzPct val="100000"/>
              <a:buChar char="•"/>
            </a:pPr>
            <a:r>
              <a:rPr lang="en-US" sz="1875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从一次跨部门协作中意识到：把复杂方案讲清楚，本身就是稀缺能力</a:t>
            </a:r>
            <a:endParaRPr lang="en-US" sz="1875" dirty="0"/>
          </a:p>
          <a:p>
            <a:pPr algn="l" marL="381000" indent="-381000">
              <a:lnSpc>
                <a:spcPts val="2813"/>
              </a:lnSpc>
              <a:spcAft>
                <a:spcPts val="1500"/>
              </a:spcAft>
              <a:buSzPct val="100000"/>
              <a:buChar char="•"/>
            </a:pPr>
            <a:r>
              <a:rPr lang="en-US" sz="1875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过去两年独立完成 12 场方案汇报，逐步形成结构化表达的稳定方法</a:t>
            </a:r>
            <a:endParaRPr lang="en-US" sz="1875" dirty="0"/>
          </a:p>
          <a:p>
            <a:pPr algn="l" marL="381000" indent="-381000">
              <a:lnSpc>
                <a:spcPts val="2813"/>
              </a:lnSpc>
              <a:spcAft>
                <a:spcPts val="1500"/>
              </a:spcAft>
              <a:buSzPct val="100000"/>
              <a:buChar char="•"/>
            </a:pPr>
            <a:r>
              <a:rPr lang="en-US" sz="1875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希望把这种能力沉淀为职业方向，而不只是临时任务</a:t>
            </a:r>
            <a:endParaRPr lang="en-US" sz="18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57250" y="609600"/>
            <a:ext cx="38862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369A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857250" y="914400"/>
            <a:ext cx="1476908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目标岗位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857250" y="1676400"/>
            <a:ext cx="914400" cy="47625"/>
          </a:xfrm>
          <a:prstGeom prst="rect">
            <a:avLst/>
          </a:prstGeom>
          <a:solidFill>
            <a:srgbClr val="0369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57250" y="2095500"/>
            <a:ext cx="5586564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3"/>
              </a:lnSpc>
              <a:spcAft>
                <a:spcPts val="1350"/>
              </a:spcAft>
              <a:buNone/>
            </a:pPr>
            <a:r>
              <a:rPr lang="en-US" sz="1875" b="1" dirty="0">
                <a:solidFill>
                  <a:srgbClr val="0369A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核心判断：表达与结构化能力，是可迁移的职业资产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857250" y="2624138"/>
            <a:ext cx="5477024" cy="1452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81000" indent="-381000">
              <a:lnSpc>
                <a:spcPts val="2813"/>
              </a:lnSpc>
              <a:spcAft>
                <a:spcPts val="1500"/>
              </a:spcAft>
              <a:buSzPct val="100000"/>
              <a:buChar char="•"/>
            </a:pPr>
            <a:r>
              <a:rPr lang="en-US" sz="1875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岗位方向：解决方案 / 产品运营</a:t>
            </a:r>
            <a:endParaRPr lang="en-US" sz="1875" dirty="0"/>
          </a:p>
          <a:p>
            <a:pPr algn="l" marL="381000" indent="-381000">
              <a:lnSpc>
                <a:spcPts val="2813"/>
              </a:lnSpc>
              <a:spcAft>
                <a:spcPts val="1500"/>
              </a:spcAft>
              <a:buSzPct val="100000"/>
              <a:buChar char="•"/>
            </a:pPr>
            <a:r>
              <a:rPr lang="en-US" sz="1875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核心要求：结构化表达、跨团队协作、行业理解</a:t>
            </a:r>
            <a:endParaRPr lang="en-US" sz="1875" dirty="0"/>
          </a:p>
          <a:p>
            <a:pPr algn="l" marL="381000" indent="-381000">
              <a:lnSpc>
                <a:spcPts val="2813"/>
              </a:lnSpc>
              <a:spcAft>
                <a:spcPts val="1500"/>
              </a:spcAft>
              <a:buSzPct val="100000"/>
              <a:buChar char="•"/>
            </a:pPr>
            <a:r>
              <a:rPr lang="en-US" sz="1875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经验匹配：12 场方案汇报 + 3 个跨部门项目</a:t>
            </a:r>
            <a:endParaRPr lang="en-US" sz="18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57250" y="609600"/>
            <a:ext cx="38862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369A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857250" y="914400"/>
            <a:ext cx="1476908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能力盘点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857250" y="1676400"/>
            <a:ext cx="914400" cy="47625"/>
          </a:xfrm>
          <a:prstGeom prst="rect">
            <a:avLst/>
          </a:prstGeom>
          <a:solidFill>
            <a:srgbClr val="0369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57250" y="2247900"/>
            <a:ext cx="5858024" cy="3095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81000" indent="-381000">
              <a:lnSpc>
                <a:spcPts val="2813"/>
              </a:lnSpc>
              <a:spcAft>
                <a:spcPts val="1500"/>
              </a:spcAft>
              <a:buSzPct val="100000"/>
              <a:buChar char="•"/>
            </a:pPr>
            <a:r>
              <a:rPr lang="en-US" sz="1875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结构化表达：可独立完成从提纲到成稿的全流程</a:t>
            </a:r>
            <a:endParaRPr lang="en-US" sz="1875" dirty="0"/>
          </a:p>
          <a:p>
            <a:pPr algn="l" marL="381000" indent="-381000">
              <a:lnSpc>
                <a:spcPts val="2813"/>
              </a:lnSpc>
              <a:spcAft>
                <a:spcPts val="1500"/>
              </a:spcAft>
              <a:buSzPct val="100000"/>
              <a:buChar char="•"/>
            </a:pPr>
            <a:r>
              <a:rPr lang="en-US" sz="1875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方案可视化：熟练使用图表与版式传达信息</a:t>
            </a:r>
            <a:endParaRPr lang="en-US" sz="1875" dirty="0"/>
          </a:p>
          <a:p>
            <a:pPr algn="l" marL="381000" indent="-381000">
              <a:lnSpc>
                <a:spcPts val="2813"/>
              </a:lnSpc>
              <a:spcAft>
                <a:spcPts val="1500"/>
              </a:spcAft>
              <a:buSzPct val="100000"/>
              <a:buChar char="•"/>
            </a:pPr>
            <a:r>
              <a:rPr lang="en-US" sz="1875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跨团队协作：与研发、市场、销售均有稳定协作经验</a:t>
            </a:r>
            <a:endParaRPr lang="en-US" sz="1875" dirty="0"/>
          </a:p>
          <a:p>
            <a:pPr algn="l" marL="381000" indent="-381000">
              <a:lnSpc>
                <a:spcPts val="2813"/>
              </a:lnSpc>
              <a:spcAft>
                <a:spcPts val="1500"/>
              </a:spcAft>
              <a:buSzPct val="100000"/>
              <a:buChar char="•"/>
            </a:pPr>
            <a:r>
              <a:rPr lang="en-US" sz="1875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需求分析：能把模糊诉求拆解为可执行方案</a:t>
            </a:r>
            <a:endParaRPr lang="en-US" sz="1875" dirty="0"/>
          </a:p>
          <a:p>
            <a:pPr algn="l" marL="381000" indent="-381000">
              <a:lnSpc>
                <a:spcPts val="2813"/>
              </a:lnSpc>
              <a:spcAft>
                <a:spcPts val="1500"/>
              </a:spcAft>
              <a:buSzPct val="100000"/>
              <a:buChar char="•"/>
            </a:pPr>
            <a:r>
              <a:rPr lang="en-US" sz="1875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数据分析：掌握基础统计与可视化工具</a:t>
            </a:r>
            <a:endParaRPr lang="en-US" sz="1875" dirty="0"/>
          </a:p>
          <a:p>
            <a:pPr algn="l" marL="381000" indent="-381000">
              <a:lnSpc>
                <a:spcPts val="2813"/>
              </a:lnSpc>
              <a:spcAft>
                <a:spcPts val="1500"/>
              </a:spcAft>
              <a:buSzPct val="100000"/>
              <a:buChar char="•"/>
            </a:pPr>
            <a:r>
              <a:rPr lang="en-US" sz="1875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行业理解：对本行业头部公司的产品路线有持续跟踪</a:t>
            </a:r>
            <a:endParaRPr lang="en-US" sz="18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57250" y="609600"/>
            <a:ext cx="38862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369A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03+1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857250" y="914400"/>
            <a:ext cx="2584475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能力盘点（续）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857250" y="1676400"/>
            <a:ext cx="914400" cy="47625"/>
          </a:xfrm>
          <a:prstGeom prst="rect">
            <a:avLst/>
          </a:prstGeom>
          <a:solidFill>
            <a:srgbClr val="0369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57250" y="2247900"/>
            <a:ext cx="4906119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81000" indent="-381000">
              <a:lnSpc>
                <a:spcPts val="2813"/>
              </a:lnSpc>
              <a:spcAft>
                <a:spcPts val="1500"/>
              </a:spcAft>
              <a:buSzPct val="100000"/>
              <a:buChar char="•"/>
            </a:pPr>
            <a:r>
              <a:rPr lang="en-US" sz="1875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项目管理：主导过 3 个中型项目并按期交付</a:t>
            </a:r>
            <a:endParaRPr lang="en-US" sz="1875" dirty="0"/>
          </a:p>
          <a:p>
            <a:pPr algn="l" marL="381000" indent="-381000">
              <a:lnSpc>
                <a:spcPts val="2813"/>
              </a:lnSpc>
              <a:spcAft>
                <a:spcPts val="1500"/>
              </a:spcAft>
              <a:buSzPct val="100000"/>
              <a:buChar char="•"/>
            </a:pPr>
            <a:r>
              <a:rPr lang="en-US" sz="1875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公开表达：累计对外分享 12 次，反馈良好</a:t>
            </a:r>
            <a:endParaRPr lang="en-US" sz="18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57250" y="609600"/>
            <a:ext cx="38862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369A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857250" y="914400"/>
            <a:ext cx="1476908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行动计划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857250" y="1676400"/>
            <a:ext cx="914400" cy="47625"/>
          </a:xfrm>
          <a:prstGeom prst="rect">
            <a:avLst/>
          </a:prstGeom>
          <a:solidFill>
            <a:srgbClr val="0369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57250" y="2247900"/>
            <a:ext cx="5597277" cy="1452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81000" indent="-381000">
              <a:lnSpc>
                <a:spcPts val="2813"/>
              </a:lnSpc>
              <a:spcAft>
                <a:spcPts val="1500"/>
              </a:spcAft>
              <a:buSzPct val="100000"/>
              <a:buChar char="•"/>
            </a:pPr>
            <a:r>
              <a:rPr lang="en-US" sz="1875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1-2 月：补齐数据分析短板，完成两个实战分析</a:t>
            </a:r>
            <a:endParaRPr lang="en-US" sz="1875" dirty="0"/>
          </a:p>
          <a:p>
            <a:pPr algn="l" marL="381000" indent="-381000">
              <a:lnSpc>
                <a:spcPts val="2813"/>
              </a:lnSpc>
              <a:spcAft>
                <a:spcPts val="1500"/>
              </a:spcAft>
              <a:buSzPct val="100000"/>
              <a:buChar char="•"/>
            </a:pPr>
            <a:r>
              <a:rPr lang="en-US" sz="1875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3-4 月：沉淀作品集，覆盖三类典型方案场景</a:t>
            </a:r>
            <a:endParaRPr lang="en-US" sz="1875" dirty="0"/>
          </a:p>
          <a:p>
            <a:pPr algn="l" marL="381000" indent="-381000">
              <a:lnSpc>
                <a:spcPts val="2813"/>
              </a:lnSpc>
              <a:spcAft>
                <a:spcPts val="1500"/>
              </a:spcAft>
              <a:buSzPct val="100000"/>
              <a:buChar char="•"/>
            </a:pPr>
            <a:r>
              <a:rPr lang="en-US" sz="1875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5-6 月：定向投递并完成岗位转型</a:t>
            </a:r>
            <a:endParaRPr lang="en-US" sz="18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DeepPresenter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/>
  <dc:creator>pptsvc</dc:creator>
  <cp:lastModifiedBy>pptsvc</cp:lastModifiedBy>
  <cp:revision>1</cp:revision>
  <dcterms:created xsi:type="dcterms:W3CDTF">2026-09-30T10:05:22Z</dcterms:created>
  <dcterms:modified xsi:type="dcterms:W3CDTF">2026-09-30T10:05:22Z</dcterms:modified>
</cp:coreProperties>
</file>